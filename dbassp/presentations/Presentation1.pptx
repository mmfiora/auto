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8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716" y="114"/>
      </p:cViewPr>
      <p:guideLst/>
    </p:cSldViewPr>
  </p:slideViewPr>
  <p:notesTextViewPr>
    <p:cViewPr>
      <p:scale>
        <a:sx n="1" d="1"/>
        <a:sy n="1" d="1"/>
      </p:scale>
      <p:origin x="0" y="-18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D2AF9-C4A5-4AE0-B6DF-38C091AE9F8E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FDBF0-3C8B-498B-9EC1-7BB8B06AE788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1186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Sacar unusual aa, </a:t>
            </a:r>
            <a:r>
              <a:rPr lang="en-US" dirty="0" err="1"/>
              <a:t>poner</a:t>
            </a:r>
            <a:r>
              <a:rPr lang="en-US" dirty="0"/>
              <a:t> </a:t>
            </a:r>
            <a:r>
              <a:rPr lang="en-US" dirty="0" err="1"/>
              <a:t>quizas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es </a:t>
            </a:r>
            <a:r>
              <a:rPr lang="en-US" dirty="0" err="1"/>
              <a:t>significativo</a:t>
            </a:r>
            <a:r>
              <a:rPr lang="en-US" dirty="0"/>
              <a:t> carga positive o </a:t>
            </a:r>
            <a:r>
              <a:rPr lang="en-US" dirty="0" err="1"/>
              <a:t>neutra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Fijarse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se </a:t>
            </a:r>
            <a:r>
              <a:rPr lang="en-US" dirty="0" err="1"/>
              <a:t>correlaciona</a:t>
            </a:r>
            <a:r>
              <a:rPr lang="en-US" dirty="0"/>
              <a:t> con la </a:t>
            </a:r>
            <a:r>
              <a:rPr lang="en-US" dirty="0" err="1"/>
              <a:t>importancia</a:t>
            </a:r>
            <a:r>
              <a:rPr lang="en-US" dirty="0"/>
              <a:t> la variables que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calculando</a:t>
            </a:r>
            <a:r>
              <a:rPr lang="en-US" dirty="0"/>
              <a:t> (</a:t>
            </a:r>
            <a:r>
              <a:rPr lang="en-US" dirty="0" err="1"/>
              <a:t>ej</a:t>
            </a:r>
            <a:r>
              <a:rPr lang="en-US" dirty="0"/>
              <a:t> largo de cola)</a:t>
            </a:r>
          </a:p>
          <a:p>
            <a:r>
              <a:rPr lang="en-US" dirty="0"/>
              <a:t>Mirar </a:t>
            </a:r>
            <a:r>
              <a:rPr lang="en-US" dirty="0" err="1"/>
              <a:t>los</a:t>
            </a:r>
            <a:r>
              <a:rPr lang="en-US" dirty="0"/>
              <a:t> random forest para las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bacterias</a:t>
            </a:r>
            <a:endParaRPr lang="en-US" dirty="0"/>
          </a:p>
          <a:p>
            <a:r>
              <a:rPr lang="en-US" dirty="0" err="1"/>
              <a:t>Fijarse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dividen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/>
              <a:t> gram + o –</a:t>
            </a:r>
          </a:p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1FDBF0-3C8B-498B-9EC1-7BB8B06AE788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7308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A40A-AF84-8221-EA54-BB7B5446C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E05D2-669B-CE0F-3961-195417396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E25CC-790F-BF94-38CD-0496E05C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F46D-1973-6FA5-10BA-01265DA6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F82A1-69EA-9187-43C4-C6AFA19A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559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FCCC4-1447-C090-CB8A-4DDECD8E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1064-2A5A-ED10-2D8F-9EF4ACB43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D3050-3ADF-C66C-0F66-73165CA5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48C08-24CF-0E89-A543-3BF00A73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0D64E-7AC9-EF9A-83E3-F702FD05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026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14B9-F1A4-6A85-F04B-EB6E8F67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B5956-098B-DBAA-C3DB-F931B3907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FD015-E7D3-5B5A-473B-4AC6A9675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DFB16-7A06-F38D-4D15-FD9FBB86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02227-EDD7-BBFE-A2D1-5253C4E4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166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FF64-E21C-A6C1-E2B3-BC8CA135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4870-5087-73EB-A1FC-929B998CA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004BC-257A-45EE-D833-7AE67AA9D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82D1-9AC6-F5D9-BB3B-651B39F1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78F18-BDE3-96AC-D591-D6474578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02D91-C432-56DB-470D-C8E69DC6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334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48431-DC65-4CAA-7115-55169146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D336C-1026-AA4D-2D87-1406DB491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1C97-D04F-CB63-66FB-D0DFDDF12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54D2E-92A6-2777-59EB-E94A11A32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B237F-77E3-9584-E286-F3A78C7F3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F93B5-C28F-C01C-D0F2-F97B6A8C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E83D6-3564-8489-A24E-0A3332FAA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94142-B848-C5E5-1E82-2BAE65BC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478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8BA7-195D-266C-4D0B-66FB9AE9A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8AB44-09C2-CE2E-8933-F3D27EBF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4FB50-A476-F7EA-D0D6-997DAE8E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94D5F-FEDB-0CBA-9138-71543C75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072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B9763-E1F1-FA09-8901-F3499C25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A64C8-9A0E-605C-7C40-AF18F615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794A6-A8A3-B715-2335-AD123C74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277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AD46-87A9-3F58-5CD7-712F15A79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0CC5E-DEEF-EC6F-546C-847D528E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8A5E5-DDE9-CAB7-0EA0-C27F27659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D6A12-98B7-B0FE-BC8A-4F1E0247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36195-A6F1-E0E7-64A2-ABBC35D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A3466-9B43-1235-6DBD-245B341C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8880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B3DF-80D9-C808-CF98-A1E65EF6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BE215-1C3F-3EF4-E4AA-88F6B634E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573D6-E317-DCA8-C9A6-378307A0C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2E519-3A4E-E9ED-04F7-068B61E3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11E00-D694-872B-948D-7356F2B8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C2092-A0DD-9951-C6AE-82A09F46E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212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F17A-4ACB-9B47-3260-E0AD9B50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BE712-4771-0E3F-6A40-EB1ACA0E7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17354-7773-620E-7920-A4951A81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216C-B71D-74A2-9571-798903FA1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56E66-95EE-66B7-38FA-649EB294F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231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BE8CF-10B7-1B96-D2E9-F42ACB186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23E1F-C1CD-EA98-311A-38408C692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58DD7-BD4D-959C-0806-7C75A0E6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2FE8B-8C69-2F3C-C20A-BFBD19A6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6C4C2-57C3-605E-D821-0E0F3543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29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FDA8F-C7A2-4646-80E9-D73B0F20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8E428-8AAC-6FA6-738C-34C1BCA88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3B3C-0DCC-B919-E6DB-6F8315FD6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14405-A424-4CE5-AB61-4A953F57F319}" type="datetimeFigureOut">
              <a:rPr lang="es-AR" smtClean="0"/>
              <a:t>30/4/2026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2EE9C-D1DB-74D6-8911-07DA63706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32EC7-50DC-FC3F-4991-9622E3B1A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F9A15-8991-49E6-B49C-D3E4B3003311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7908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0DB9E-57AC-B10A-5581-2CCCEDAD1692}"/>
              </a:ext>
            </a:extLst>
          </p:cNvPr>
          <p:cNvSpPr txBox="1"/>
          <p:nvPr/>
        </p:nvSpPr>
        <p:spPr>
          <a:xfrm>
            <a:off x="530648" y="579908"/>
            <a:ext cx="1250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S. </a:t>
            </a:r>
            <a:r>
              <a:rPr lang="es-AR" dirty="0" err="1"/>
              <a:t>aureus</a:t>
            </a:r>
            <a:r>
              <a:rPr lang="es-AR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F6D65-5914-582B-8A46-9DDA20007B2C}"/>
              </a:ext>
            </a:extLst>
          </p:cNvPr>
          <p:cNvSpPr txBox="1"/>
          <p:nvPr/>
        </p:nvSpPr>
        <p:spPr>
          <a:xfrm>
            <a:off x="4643930" y="579908"/>
            <a:ext cx="1250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E. </a:t>
            </a:r>
            <a:r>
              <a:rPr lang="es-AR" dirty="0" err="1"/>
              <a:t>coli</a:t>
            </a:r>
            <a:endParaRPr lang="es-A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ACBE5B-4C86-FF38-011B-8784B9049B65}"/>
              </a:ext>
            </a:extLst>
          </p:cNvPr>
          <p:cNvSpPr txBox="1"/>
          <p:nvPr/>
        </p:nvSpPr>
        <p:spPr>
          <a:xfrm>
            <a:off x="8295454" y="579908"/>
            <a:ext cx="176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/>
              <a:t>P.aeruginosa</a:t>
            </a:r>
            <a:endParaRPr lang="es-A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C6B83B-1045-2B33-1107-2D478AE0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101" y="1438346"/>
            <a:ext cx="3407798" cy="1144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B60CEF-D201-9E85-91AA-171139FE44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276" y="3130155"/>
            <a:ext cx="3407798" cy="21728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B875DF-EE58-F328-0622-E38647216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9997" y="3132685"/>
            <a:ext cx="3410426" cy="217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A203B4-D228-BCAF-169F-5C3D1979A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997" y="1376988"/>
            <a:ext cx="3410426" cy="122889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9BF9231-E769-4616-322C-42B5DA809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" y="3130155"/>
            <a:ext cx="3602055" cy="229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872A5B-C69D-691E-4F18-0D97708C0C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534" y="1376988"/>
            <a:ext cx="3705742" cy="1267002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2004606-C66B-5DED-5142-D43AA6B6F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541" y="191755"/>
            <a:ext cx="1584683" cy="1077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E7A6FD3-3C44-C994-5C9A-C7AF82EBF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207" y="192431"/>
            <a:ext cx="1573392" cy="114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E1F1096-479F-EB18-F0B0-09D030D32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3887" y="191755"/>
            <a:ext cx="1589964" cy="111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2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540BB-42BD-FFC2-8A68-C775EA54B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" y="241738"/>
            <a:ext cx="11154103" cy="5935225"/>
          </a:xfrm>
        </p:spPr>
        <p:txBody>
          <a:bodyPr>
            <a:normAutofit fontScale="55000" lnSpcReduction="20000"/>
          </a:bodyPr>
          <a:lstStyle/>
          <a:p>
            <a:r>
              <a:rPr lang="es-AR" dirty="0"/>
              <a:t>El </a:t>
            </a:r>
            <a:r>
              <a:rPr lang="es-AR" dirty="0" err="1"/>
              <a:t>classification</a:t>
            </a:r>
            <a:r>
              <a:rPr lang="es-AR" dirty="0"/>
              <a:t> </a:t>
            </a:r>
            <a:r>
              <a:rPr lang="es-AR" dirty="0" err="1"/>
              <a:t>report</a:t>
            </a:r>
            <a:r>
              <a:rPr lang="es-AR" dirty="0"/>
              <a:t> resume el desempeño del modelo en un problema de clasificación binaria (activo/inactivo). Para cada clase se reportan métricas que evalúan distintos aspectos de la predicción.</a:t>
            </a:r>
          </a:p>
          <a:p>
            <a:endParaRPr lang="es-AR" dirty="0"/>
          </a:p>
          <a:p>
            <a:r>
              <a:rPr lang="es-AR" dirty="0"/>
              <a:t>La </a:t>
            </a:r>
            <a:r>
              <a:rPr lang="es-AR" dirty="0" err="1"/>
              <a:t>precision</a:t>
            </a:r>
            <a:r>
              <a:rPr lang="es-AR" dirty="0"/>
              <a:t> mide qué tan confiables son las predicciones del modelo para una clase dada. Se calcula como: </a:t>
            </a:r>
            <a:r>
              <a:rPr lang="es-AR" dirty="0" err="1"/>
              <a:t>precision</a:t>
            </a:r>
            <a:r>
              <a:rPr lang="es-AR" dirty="0"/>
              <a:t> = TP / (TP + FP), donde TP son los verdaderos positivos y FP los falsos positivos. Es decir, de todos los casos que el modelo predijo como una clase, qué proporción era correcta.</a:t>
            </a:r>
          </a:p>
          <a:p>
            <a:endParaRPr lang="es-AR" dirty="0"/>
          </a:p>
          <a:p>
            <a:r>
              <a:rPr lang="es-AR" dirty="0"/>
              <a:t>El </a:t>
            </a:r>
            <a:r>
              <a:rPr lang="es-AR" dirty="0" err="1"/>
              <a:t>recall</a:t>
            </a:r>
            <a:r>
              <a:rPr lang="es-AR" dirty="0"/>
              <a:t> (o sensibilidad) mide la capacidad del modelo para detectar todos los casos reales de una clase. Se calcula como: </a:t>
            </a:r>
            <a:r>
              <a:rPr lang="es-AR" dirty="0" err="1"/>
              <a:t>recall</a:t>
            </a:r>
            <a:r>
              <a:rPr lang="es-AR" dirty="0"/>
              <a:t> = TP / (TP + FN), donde FN son los falsos negativos. Indica qué fracción de los ejemplos reales de una clase fue correctamente identificada.</a:t>
            </a:r>
          </a:p>
          <a:p>
            <a:endParaRPr lang="es-AR" dirty="0"/>
          </a:p>
          <a:p>
            <a:r>
              <a:rPr lang="es-AR" dirty="0"/>
              <a:t>El f1-score combina </a:t>
            </a:r>
            <a:r>
              <a:rPr lang="es-AR" dirty="0" err="1"/>
              <a:t>precision</a:t>
            </a:r>
            <a:r>
              <a:rPr lang="es-AR" dirty="0"/>
              <a:t> y </a:t>
            </a:r>
            <a:r>
              <a:rPr lang="es-AR" dirty="0" err="1"/>
              <a:t>recall</a:t>
            </a:r>
            <a:r>
              <a:rPr lang="es-AR" dirty="0"/>
              <a:t> en una única métrica balanceada. Se calcula como: F1 = 2 * (</a:t>
            </a:r>
            <a:r>
              <a:rPr lang="es-AR" dirty="0" err="1"/>
              <a:t>precision</a:t>
            </a:r>
            <a:r>
              <a:rPr lang="es-AR" dirty="0"/>
              <a:t> * </a:t>
            </a:r>
            <a:r>
              <a:rPr lang="es-AR" dirty="0" err="1"/>
              <a:t>recall</a:t>
            </a:r>
            <a:r>
              <a:rPr lang="es-AR" dirty="0"/>
              <a:t>) / (</a:t>
            </a:r>
            <a:r>
              <a:rPr lang="es-AR" dirty="0" err="1"/>
              <a:t>precision</a:t>
            </a:r>
            <a:r>
              <a:rPr lang="es-AR" dirty="0"/>
              <a:t> + </a:t>
            </a:r>
            <a:r>
              <a:rPr lang="es-AR" dirty="0" err="1"/>
              <a:t>recall</a:t>
            </a:r>
            <a:r>
              <a:rPr lang="es-AR" dirty="0"/>
              <a:t>). Es útil cuando existe desbalance entre clases, ya que penaliza modelos que tienen buen </a:t>
            </a:r>
            <a:r>
              <a:rPr lang="es-AR" dirty="0" err="1"/>
              <a:t>precision</a:t>
            </a:r>
            <a:r>
              <a:rPr lang="es-AR" dirty="0"/>
              <a:t> pero bajo </a:t>
            </a:r>
            <a:r>
              <a:rPr lang="es-AR" dirty="0" err="1"/>
              <a:t>recall</a:t>
            </a:r>
            <a:r>
              <a:rPr lang="es-AR" dirty="0"/>
              <a:t> (o viceversa).</a:t>
            </a:r>
          </a:p>
          <a:p>
            <a:endParaRPr lang="es-AR" dirty="0"/>
          </a:p>
          <a:p>
            <a:r>
              <a:rPr lang="es-AR" dirty="0"/>
              <a:t>El </a:t>
            </a:r>
            <a:r>
              <a:rPr lang="es-AR" dirty="0" err="1"/>
              <a:t>support</a:t>
            </a:r>
            <a:r>
              <a:rPr lang="es-AR" dirty="0"/>
              <a:t> corresponde al número de ejemplos reales de cada clase en el conjunto de test. Esta métrica es importante para entender el desbalance de datos y contextualizar las demás métricas.</a:t>
            </a:r>
          </a:p>
          <a:p>
            <a:endParaRPr lang="es-AR" dirty="0"/>
          </a:p>
          <a:p>
            <a:r>
              <a:rPr lang="es-AR" dirty="0"/>
              <a:t>La </a:t>
            </a:r>
            <a:r>
              <a:rPr lang="es-AR" dirty="0" err="1"/>
              <a:t>accuracy</a:t>
            </a:r>
            <a:r>
              <a:rPr lang="es-AR" dirty="0"/>
              <a:t> mide la proporción total de predicciones correctas. Se calcula como: </a:t>
            </a:r>
            <a:r>
              <a:rPr lang="es-AR" dirty="0" err="1"/>
              <a:t>accuracy</a:t>
            </a:r>
            <a:r>
              <a:rPr lang="es-AR" dirty="0"/>
              <a:t> = (TP + TN) / total. Sin embargo, puede ser engañosa en </a:t>
            </a:r>
            <a:r>
              <a:rPr lang="es-AR" dirty="0" err="1"/>
              <a:t>datasets</a:t>
            </a:r>
            <a:r>
              <a:rPr lang="es-AR" dirty="0"/>
              <a:t> desbalanceados, ya que un modelo puede obtener alta </a:t>
            </a:r>
            <a:r>
              <a:rPr lang="es-AR" dirty="0" err="1"/>
              <a:t>accuracy</a:t>
            </a:r>
            <a:r>
              <a:rPr lang="es-AR" dirty="0"/>
              <a:t> simplemente prediciendo la clase mayoritaria.</a:t>
            </a:r>
          </a:p>
          <a:p>
            <a:endParaRPr lang="es-AR" dirty="0"/>
          </a:p>
          <a:p>
            <a:r>
              <a:rPr lang="es-AR" dirty="0"/>
              <a:t>El macro </a:t>
            </a:r>
            <a:r>
              <a:rPr lang="es-AR" dirty="0" err="1"/>
              <a:t>average</a:t>
            </a:r>
            <a:r>
              <a:rPr lang="es-AR" dirty="0"/>
              <a:t> es el promedio simple de las métricas (</a:t>
            </a:r>
            <a:r>
              <a:rPr lang="es-AR" dirty="0" err="1"/>
              <a:t>precision</a:t>
            </a:r>
            <a:r>
              <a:rPr lang="es-AR" dirty="0"/>
              <a:t>, </a:t>
            </a:r>
            <a:r>
              <a:rPr lang="es-AR" dirty="0" err="1"/>
              <a:t>recall</a:t>
            </a:r>
            <a:r>
              <a:rPr lang="es-AR" dirty="0"/>
              <a:t>, f1) entre las clases, tratando a cada clase por igual independientemente de su tamaño. En cambio, el </a:t>
            </a:r>
            <a:r>
              <a:rPr lang="es-AR" dirty="0" err="1"/>
              <a:t>weighted</a:t>
            </a:r>
            <a:r>
              <a:rPr lang="es-AR" dirty="0"/>
              <a:t> </a:t>
            </a:r>
            <a:r>
              <a:rPr lang="es-AR" dirty="0" err="1"/>
              <a:t>average</a:t>
            </a:r>
            <a:r>
              <a:rPr lang="es-AR" dirty="0"/>
              <a:t> es un promedio ponderado según el </a:t>
            </a:r>
            <a:r>
              <a:rPr lang="es-AR" dirty="0" err="1"/>
              <a:t>support</a:t>
            </a:r>
            <a:r>
              <a:rPr lang="es-AR" dirty="0"/>
              <a:t> de cada clase, por lo que refleja más el desempeño sobre la clase mayoritaria.</a:t>
            </a:r>
          </a:p>
        </p:txBody>
      </p:sp>
    </p:spTree>
    <p:extLst>
      <p:ext uri="{BB962C8B-B14F-4D97-AF65-F5344CB8AC3E}">
        <p14:creationId xmlns:p14="http://schemas.microsoft.com/office/powerpoint/2010/main" val="365177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405</Words>
  <Application>Microsoft Office PowerPoint</Application>
  <PresentationFormat>Widescreen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Dadin</dc:creator>
  <cp:lastModifiedBy>Roberto Dadin</cp:lastModifiedBy>
  <cp:revision>1</cp:revision>
  <dcterms:created xsi:type="dcterms:W3CDTF">2026-04-30T17:11:45Z</dcterms:created>
  <dcterms:modified xsi:type="dcterms:W3CDTF">2026-04-30T19:00:09Z</dcterms:modified>
</cp:coreProperties>
</file>